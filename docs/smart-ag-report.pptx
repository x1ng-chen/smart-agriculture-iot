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4" name="Shape 2"/>
          <p:cNvSpPr/>
          <p:nvPr/>
        </p:nvSpPr>
        <p:spPr>
          <a:xfrm>
            <a:off x="2286000" y="1188720"/>
            <a:ext cx="7616952" cy="4389120"/>
          </a:xfrm>
          <a:prstGeom prst="roundRect">
            <a:avLst>
              <a:gd name="adj" fmla="val 4167"/>
            </a:avLst>
          </a:prstGeom>
          <a:solidFill>
            <a:srgbClr val="111B33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智慧农业灌溉系统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Smart Agriculture Irrigation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0" y="3291840"/>
            <a:ext cx="3959352" cy="10973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Text 6"/>
          <p:cNvSpPr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华为云 IoTDA + BearPi-HM Nano + Node.js + Vue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端到端全链路物联网灌溉解决方案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毕业设计答辩  |  2026 年 6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端到端物联网灌溉系统  |  板子采集 → 华为云 → 后端处理 → 前端展示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08910" cy="530352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硬件平台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43459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8" name="Text 6"/>
          <p:cNvSpPr/>
          <p:nvPr/>
        </p:nvSpPr>
        <p:spPr>
          <a:xfrm>
            <a:off x="484632" y="1536192"/>
            <a:ext cx="2379726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BearPi-HM Nano ×2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Hi3861 RISC-V 160MHz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352KB SRAM / 2MB Flash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E53_IA1 多传感器扩展板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SHT30 温湿度 (±0.3°C)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BH1750 光照 (1-65535 lux)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土壤湿度 ADC 采集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继电器 GPIO_8 控制水泵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57550" y="1097280"/>
            <a:ext cx="2708910" cy="530352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4710" y="118872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云平台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94710" y="1444752"/>
            <a:ext cx="2434590" cy="10973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2" name="Text 10"/>
          <p:cNvSpPr/>
          <p:nvPr/>
        </p:nvSpPr>
        <p:spPr>
          <a:xfrm>
            <a:off x="3422142" y="1536192"/>
            <a:ext cx="2379726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华为云 IoTDA 北京四节点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MQTT 设备接入 :1883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数据转发规则引擎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REST API 命令下发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IAM Token 身份认证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设备影子实时同步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台设备在线管理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5060" y="1097280"/>
            <a:ext cx="2708910" cy="530352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18872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后端服务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32220" y="1444752"/>
            <a:ext cx="2434590" cy="10973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6" name="Text 14"/>
          <p:cNvSpPr/>
          <p:nvPr/>
        </p:nvSpPr>
        <p:spPr>
          <a:xfrm>
            <a:off x="6359652" y="1536192"/>
            <a:ext cx="2379726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Node.js 22 + Express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Aedes MQTT Broker :8083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MySQL 8.0 数据持久化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JWT 认证 + bcrypt 加密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告警引擎 (30min 冷却)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灌溉策略引擎 (自动触发)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FRP 内网穿透 (无公网IP)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32570" y="1097280"/>
            <a:ext cx="2708910" cy="530352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9730" y="118872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前端应用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69730" y="1444752"/>
            <a:ext cx="2434590" cy="10973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20" name="Text 18"/>
          <p:cNvSpPr/>
          <p:nvPr/>
        </p:nvSpPr>
        <p:spPr>
          <a:xfrm>
            <a:off x="9297162" y="1536192"/>
            <a:ext cx="2379726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Vue 3 Composition API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Vite 5 极速构建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Pinia 状态管理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Element Plus 企业级UI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ECharts 5 可视化图表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mqtt.js WebSocket 实时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个功能页面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系统架构全景图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完整数据链路: 传感器采集 → MQTT 上报 → 华为云 → Webhook → FRP → 后端 → MQTT/WS → 前端实时展示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612880" cy="1097280"/>
          </a:xfrm>
          <a:prstGeom prst="roundRect">
            <a:avLst>
              <a:gd name="adj" fmla="val 8333"/>
            </a:avLst>
          </a:prstGeom>
          <a:solidFill>
            <a:srgbClr val="071A1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❶ 嵌入式采集层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11155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BearPi #1 smart-001 | E53_IA1 传感器板 | SHT30+BH1750+土壤ADC | 采集30s | QoS1 上报5属性 | BearPi #2 smart-002 | 继电器GPIO_8→水泵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WiFi 2.4GHz  MQTT 117.78.5.125:1883  密码认证 HMAC-SHA256  主题 $oc/devices/{id}/sys/properties/report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2103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▼  MQTT  QoS 1  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11612880" cy="1097280"/>
          </a:xfrm>
          <a:prstGeom prst="roundRect">
            <a:avLst>
              <a:gd name="adj" fmla="val 8333"/>
            </a:avLst>
          </a:prstGeom>
          <a:solidFill>
            <a:srgbClr val="07101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7744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❷ 华为云 IoTDA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70048"/>
            <a:ext cx="11155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产品: SmartAgriculture (MQTT/JSON) | 服务: SetConfig | 转发规则「温湿度」device.property→report→HTTP POST | smart-001/smart-002 在线管理+设备影子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944368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命令下发: IAM 用户x1ng→Token(20min) → POST /v5/iot/{project}/devices/{id}/commands  RestEndpoint: 723391561e.st1.iotda-app.cn-north-4.myhuaweicloud.com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0" y="3429000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▼  Webhook HTTP POST  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3657600"/>
            <a:ext cx="9418320" cy="457200"/>
          </a:xfrm>
          <a:prstGeom prst="roundRect">
            <a:avLst>
              <a:gd name="adj" fmla="val 16000"/>
            </a:avLst>
          </a:prstGeom>
          <a:solidFill>
            <a:srgbClr val="1A1200"/>
          </a:solidFill>
          <a:ln w="15240">
            <a:solidFill>
              <a:srgbClr val="FBBF2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463040" y="370332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FRP 内网穿透:  阿里云ECS 47.96.100.108 frps (:9090控制 :8080→3000前端 :8081→8080后端)  ═══  WSL Ubuntu frpc (localIP 192.168.32.1)  ═══  本机 Windows localhost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114800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▼  TCP 转发 :8081→localhost:8080  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343400"/>
            <a:ext cx="11612880" cy="1051560"/>
          </a:xfrm>
          <a:prstGeom prst="roundRect">
            <a:avLst>
              <a:gd name="adj" fmla="val 8696"/>
            </a:avLst>
          </a:prstGeom>
          <a:solidFill>
            <a:srgbClr val="0A10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38912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❸ 业务处理层 — 本机 Windows 11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后端 Node.js :8080 | huawei-callback.js → INSERT sensor_data → brokerRef.publish() | mqtt-broker.js → checkAlerts()+runStrategies() | huawei-iot.js → REST命令下发 | serial-gateway.js UART备用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61120" y="443484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MySQL 8.0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8张表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0" y="5394960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▼  MQTT over WebSocket  ws://localhost:8083/mqtt  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5623560"/>
            <a:ext cx="11612880" cy="548640"/>
          </a:xfrm>
          <a:prstGeom prst="roundRect">
            <a:avLst>
              <a:gd name="adj" fmla="val 16667"/>
            </a:avLst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669280"/>
            <a:ext cx="11155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❹ 展示层 — Vue 3 :3000 (Vite)  |  mqtt.js subscribe sensor/+/data  |  Pinia latestData[sn] 实时刷新  |  10页面: login dashboard monitor devices plots strategies schedules irrigation-logs alerts settings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6355080"/>
            <a:ext cx="11612880" cy="320040"/>
          </a:xfrm>
          <a:prstGeom prst="rect">
            <a:avLst/>
          </a:prstGeom>
          <a:solidFill>
            <a:srgbClr val="111B33"/>
          </a:solidFill>
        </p:spPr>
      </p:sp>
      <p:sp>
        <p:nvSpPr>
          <p:cNvPr id="26" name="Text 24"/>
          <p:cNvSpPr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数据上行 (30s): 板子→MQTT→华为云→Webhook→FRP→后端→DB+MQTT/WS→前端    |    命令下行: 前端→后端→华为云REST API→MQTT→板子→继电器    |    全链路闭环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Shape 1"/>
          <p:cNvSpPr/>
          <p:nvPr/>
        </p:nvSpPr>
        <p:spPr>
          <a:xfrm>
            <a:off x="0" y="2432304"/>
            <a:ext cx="12188952" cy="2011680"/>
          </a:xfrm>
          <a:prstGeom prst="rect">
            <a:avLst/>
          </a:prstGeom>
          <a:solidFill>
            <a:srgbClr val="111B33"/>
          </a:solidFill>
        </p:spPr>
      </p:sp>
      <p:sp>
        <p:nvSpPr>
          <p:cNvPr id="4" name="Text 2"/>
          <p:cNvSpPr/>
          <p:nvPr/>
        </p:nvSpPr>
        <p:spPr>
          <a:xfrm>
            <a:off x="640080" y="256032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265176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前端应用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347472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| Vue 3 + Vite + Element Plus + ECharts + mqtt.js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个功能页面 | 实时 MQTT 推送 | 响应式 Dashboard | JWT 认证拦截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— 技术选型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Vue 3 Composition API  +  Vite 5 构建  +  Pinia 状态管理  +  Element Plus 组件库  +  ECharts 可视化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08910" cy="292608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框架 &amp; 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243459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8" name="Text 6"/>
          <p:cNvSpPr/>
          <p:nvPr/>
        </p:nvSpPr>
        <p:spPr>
          <a:xfrm>
            <a:off x="484632" y="1627632"/>
            <a:ext cx="2379726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Vue 3 Composition API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setup() + ref/reactive 响应式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Vite 5 开发服务器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HMR 热更新 &lt; 1s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ES Module 原生支持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按需编译，极速冷启动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57550" y="1188720"/>
            <a:ext cx="2708910" cy="292608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4710" y="128016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 &amp; 路由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94710" y="1536192"/>
            <a:ext cx="2434590" cy="10973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2" name="Text 10"/>
          <p:cNvSpPr/>
          <p:nvPr/>
        </p:nvSpPr>
        <p:spPr>
          <a:xfrm>
            <a:off x="3422142" y="1627632"/>
            <a:ext cx="2379726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Pinia Store 状态管理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mqttStore.latestData[sn]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响应式数据驱动 UI 刷新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Vue Router 4 路由守卫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beforeEach JWT 校验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未登录 → /login 重定向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5060" y="1188720"/>
            <a:ext cx="2708910" cy="292608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28016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UI &amp; 图表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32220" y="1536192"/>
            <a:ext cx="2434590" cy="10973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6" name="Text 14"/>
          <p:cNvSpPr/>
          <p:nvPr/>
        </p:nvSpPr>
        <p:spPr>
          <a:xfrm>
            <a:off x="6359652" y="1627632"/>
            <a:ext cx="2379726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Element Plus 企业级组件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中文 locale 国际化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El-Table El-Form El-Dialog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El-Button El-Card El-Tag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ECharts 5 可视化引擎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折线图 仪表盘 柱状图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24h 传感器趋势图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32570" y="1188720"/>
            <a:ext cx="2708910" cy="292608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9730" y="128016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通信 &amp; 安全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69730" y="1536192"/>
            <a:ext cx="2434590" cy="10973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20" name="Text 18"/>
          <p:cNvSpPr/>
          <p:nvPr/>
        </p:nvSpPr>
        <p:spPr>
          <a:xfrm>
            <a:off x="9297162" y="1627632"/>
            <a:ext cx="2379726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Axios HTTP 拦截器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自动注入 Bearer Token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401 → 清除 token → 跳转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mqtt.js WebSocket 客户端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ws://localhost:8083/mqtt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订阅 sensor/+/data 通配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毫秒级实时数据刷新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— 页面架构总览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个功能页面 | 路由懒加载 | 组件化开发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20040" y="1280160"/>
          <a:ext cx="11521440" cy="4828032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7680960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路由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页面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功能说明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/login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登录页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用户名密码登录 | JWT Token localStorage | 登录过期自动跳转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/dashboard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仪表盘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 统计卡片 + ECharts 24h 趋势折线图 | 在线设备/今日灌溉/总用水量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/monitor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实时监控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设备卡片网格 + MQTT 实时 5 项传感器数据 + 灌溉开关 + 状态指示灯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/devices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设备管理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CRUD 表格 | COM 串口绑定 | 华为云 DeviceID 绑定 | 在线状态标签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/plots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地块管理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地块 CRUD | 种植物/面积 | 关联灌溉策略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/strategies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灌溉策略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温湿度阈值 + 灌溉时长上限 + 冷却间隔 | 启用/禁用开关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/schedules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定时任务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Cron 表达式定时灌溉 | 任务 CRUD | 启用/禁用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/irrigation-logs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灌溉记录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历史灌溉列表 | 分页/筛选 | 状态: running/completed/stopped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/alerts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告警中心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阈值告警列表 | 级别: info/warn/critical | 标记已处理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/settings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系统设置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全局参数配置 | 串口自动连接 | 华为云开关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5943600"/>
            <a:ext cx="11521440" cy="731520"/>
          </a:xfrm>
          <a:prstGeom prst="rect">
            <a:avLst/>
          </a:prstGeom>
          <a:solidFill>
            <a:srgbClr val="111B33"/>
          </a:solidFill>
        </p:spPr>
      </p:sp>
      <p:sp>
        <p:nvSpPr>
          <p:cNvPr id="5" name="Text 4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路由守卫: router.beforeEach() → 检查 localStorage token → 无 token 跳转 /login  |  Axios 拦截器: 自动注入 Authorization: Bearer &lt;token&gt;  |  401 响应: 清除 token → redirect login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— MQTT 实时数据流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WebSocket 长连接 → 服务端推送 → 零轮询 → 毫秒级刷新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11B33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建立连接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182880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8" name="Text 6"/>
          <p:cNvSpPr/>
          <p:nvPr/>
        </p:nvSpPr>
        <p:spPr>
          <a:xfrm>
            <a:off x="365760" y="1691640"/>
            <a:ext cx="19202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mqtt.connect()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ws://localhost:8083/mqtt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WebSocket 握手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MQTT CONNECT 报文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03120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11B33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2618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订阅主题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1554480"/>
            <a:ext cx="1828800" cy="10973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3" name="Text 11"/>
          <p:cNvSpPr/>
          <p:nvPr/>
        </p:nvSpPr>
        <p:spPr>
          <a:xfrm>
            <a:off x="2743200" y="1691640"/>
            <a:ext cx="19202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subscribe()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sensor/+/data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'+' 通配所有设备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接收所有板子数据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103120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83480" y="11887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11B33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2618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消息到达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1554480"/>
            <a:ext cx="1828800" cy="10973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8" name="Text 16"/>
          <p:cNvSpPr/>
          <p:nvPr/>
        </p:nvSpPr>
        <p:spPr>
          <a:xfrm>
            <a:off x="5120640" y="1691640"/>
            <a:ext cx="19202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on('message')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JSON.parse 解析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提取 topic[1]=deviceSn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项传感器属性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2103120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920" y="11887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12618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状态更新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43800" y="1554480"/>
            <a:ext cx="1828800" cy="10973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23" name="Text 21"/>
          <p:cNvSpPr/>
          <p:nvPr/>
        </p:nvSpPr>
        <p:spPr>
          <a:xfrm>
            <a:off x="7498080" y="1691640"/>
            <a:ext cx="19202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latestData[sn] = {...}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Pinia reactive 响应式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Vue 组件自动重渲染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毫秒级 DOM 更新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55480" y="2103120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38360" y="11887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11B33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12618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UI 刷新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921240" y="1554480"/>
            <a:ext cx="1828800" cy="10973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28" name="Text 26"/>
          <p:cNvSpPr/>
          <p:nvPr/>
        </p:nvSpPr>
        <p:spPr>
          <a:xfrm>
            <a:off x="9875520" y="1691640"/>
            <a:ext cx="19202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MonitorView 卡片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土壤湿度 / 温度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湿度 / 光照 / 水泵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数值实时跳动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11612880" cy="246888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stores/mqtt.js — Pinia Store 核心实现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1124712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export const useMqttStore = defineStore('mqtt', ()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client = ref(null)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latestData = ref({})        // { "BPN-20240001": {soil_moisture:87.5, air_temp:29, ...}, "BPN-20240002": {...}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function connect()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client.value = mqtt.connect('ws://localhost:8083/mqtt')     // WebSocket 连接到 Aedes Broker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client.value.on('connect', () =&gt; client.value.subscribe('sensor/+/data'))   // 通配符订阅所有设备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client.value.on('message', (topic, msg)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const sn = topic.split('/')[1]                             // 从 topic 提取设备序列号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latestData.value[sn] = { ...JSON.parse(msg.toString()), timestamp: Date.now() }  // 触发响应式更新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— 灌溉控制 &amp; 状态管理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MonitorView.vue  |  手动灌溉 + 倒计时自动停止 + 实时状态同步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760720" cy="5303520"/>
          </a:xfrm>
          <a:prstGeom prst="roundRect">
            <a:avLst>
              <a:gd name="adj" fmla="val 1724"/>
            </a:avLst>
          </a:prstGeom>
          <a:solidFill>
            <a:srgbClr val="111B3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灌溉按钮逻辑  MonitorView.vue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548640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8" name="Text 6"/>
          <p:cNvSpPr/>
          <p:nvPr/>
        </p:nvSpPr>
        <p:spPr>
          <a:xfrm>
            <a:off x="438912" y="1536192"/>
            <a:ext cx="5431536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irrigateDuration = ref({})     // 每个设备的灌溉时长 { [deviceId]: seconds }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irrigateState = ref({})        // 每个设备的灌溉状态 { [deviceId]: { running, loading, timerId } }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async function handleStartIrrigate(device) {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const dur = irrigateDuration.value[device.id] || 30   // 默认 30 秒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irrigateState.value[device.id] = { loading: true }    // 按钮进入 loading 态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try {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startIrrigation(device.id, { duration_sec: dur })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→ POST /api/v1/devices/:id/irrigate/start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→ 后端 → 华为云 REST API → 板子 → Relay_On()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irrigateState.value[device.id] = { running: true }  // 按钮显示"停止"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ElMessage.success(`开始灌溉 ${dur} 秒`)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前端定时器: 到期自动调用停止接口 (UI 即时反馈)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const timerId = setTimeout(async () =&gt; {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await stopIrrigation(device.id)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irrigateState.value[device.id] = { running: false }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}, dur * 1000)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irrigateState.value[device.id].timerId = timerId     // 保存 timer 用于手动停止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 catch (e) {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irrigateState.value[device.id] = { running: false }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ElMessage.error('灌溉启动失败')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5577840" cy="5303520"/>
          </a:xfrm>
          <a:prstGeom prst="roundRect">
            <a:avLst>
              <a:gd name="adj" fmla="val 1724"/>
            </a:avLst>
          </a:prstGeom>
          <a:solidFill>
            <a:srgbClr val="111B33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188720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模板渲染 &amp; 双向绑定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444752"/>
            <a:ext cx="5303520" cy="10973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2" name="Text 10"/>
          <p:cNvSpPr/>
          <p:nvPr/>
        </p:nvSpPr>
        <p:spPr>
          <a:xfrm>
            <a:off x="6473952" y="1536192"/>
            <a:ext cx="5248656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&lt;!-- MonitorView.vue template --&gt;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&lt;el-card v-for="device in devices" :key="device.id"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:class="{ offline: device.online_status !== 1 }"&gt;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&lt;!-- 设备信息 --&gt;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&lt;span&gt;{{ device.device_name }}&lt;/span&gt;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&lt;span&gt;{{ device.device_sn }}&lt;/span&gt;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&lt;!-- 实时传感器数据 (来自 MQTT Store) --&gt;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&lt;div&gt;土壤湿度: {{ getVal(device.device_sn, 'soil_moisture') }}%&lt;/div&gt;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&lt;div&gt;空气温度: {{ getVal(device.device_sn, 'air_temp') }}°C&lt;/div&gt;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&lt;div&gt;空气湿度: {{ getVal(device.device_sn, 'air_humidity') }}%&lt;/div&gt;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&lt;div&gt;光照强度: {{ getVal(device.device_sn, 'light') }} lux&lt;/div&gt;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&lt;!-- 灌溉控制 --&gt;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&lt;el-select v-model="irrigateDuration[device.id]"&gt;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&lt;el-option :value="30" label="30秒" /&gt;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&lt;el-option :value="60" label="60秒" /&gt;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&lt;el-option :value="120" label="120秒" /&gt;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&lt;/el-select&gt;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&lt;el-button v-if="!irrigateState[device.id]?.running"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:loading="irrigateState[device.id]?.loading"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@click="handleStartIrrigate(device)"&gt;开始灌溉&lt;/el-button&gt;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&lt;el-button v-else type="danger"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@click="handleStopIrrigate(device)"&gt;停止&lt;/el-button&gt;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&lt;/el-card&gt;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Shape 1"/>
          <p:cNvSpPr/>
          <p:nvPr/>
        </p:nvSpPr>
        <p:spPr>
          <a:xfrm>
            <a:off x="0" y="2432304"/>
            <a:ext cx="12188952" cy="2011680"/>
          </a:xfrm>
          <a:prstGeom prst="rect">
            <a:avLst/>
          </a:prstGeom>
          <a:solidFill>
            <a:srgbClr val="111B33"/>
          </a:solidFill>
        </p:spPr>
      </p:sp>
      <p:sp>
        <p:nvSpPr>
          <p:cNvPr id="4" name="Text 2"/>
          <p:cNvSpPr/>
          <p:nvPr/>
        </p:nvSpPr>
        <p:spPr>
          <a:xfrm>
            <a:off x="640080" y="256032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二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265176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数据库设计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347472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| Vue 3 + Vite + Element Plus + ECharts + mqtt.js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个功能页面 | 实时 MQTT 推送 | 响应式 Dashboard | JWT 认证拦截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347472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 | MySQL 8.0  InnoDB  |  8 张业务表  |  完整 ER 模型  |  索引优化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 — 8 张业务表结构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MySQL 8.0 InnoDB | smart_agriculture 数据库 | 按业务域划分为 4 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612880" cy="1280160"/>
          </a:xfrm>
          <a:prstGeom prst="roundRect">
            <a:avLst>
              <a:gd name="adj" fmla="val 5714"/>
            </a:avLst>
          </a:prstGeom>
          <a:solidFill>
            <a:srgbClr val="111B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070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 &amp; 权限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112471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users: id, username, password(bcrypt), real_name, role(admin/operator), phone, email, status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Bcrypt 加盐哈希 | JWT 24h 过期 | admin/operator 双角色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11612880" cy="1280160"/>
          </a:xfrm>
          <a:prstGeom prst="roundRect">
            <a:avLst>
              <a:gd name="adj" fmla="val 5714"/>
            </a:avLst>
          </a:prstGeom>
          <a:solidFill>
            <a:srgbClr val="111B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7802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 &amp; 地块 (主数据)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12471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devices: id, device_sn(UQ), device_name, device_type, firmware_ver, connection_type, com_port, huawei_device_id, plot_id(FK), online_status, last_online_at, status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plots: id, plot_name, crop_type, area_sqm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huawei_device_id 关联华为云设备 | com_port 关联物理串口 | plot_id 关联灌溉策略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3840480"/>
            <a:ext cx="11612880" cy="1280160"/>
          </a:xfrm>
          <a:prstGeom prst="roundRect">
            <a:avLst>
              <a:gd name="adj" fmla="val 5714"/>
            </a:avLst>
          </a:prstGeom>
          <a:solidFill>
            <a:srgbClr val="111B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89534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时序 &amp; 事务 (核心业务)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114800"/>
            <a:ext cx="112471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sensor_data (大表): id, device_id(FK), soil_moisture, soil_temp, air_temp, air_humidity, light, created_at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30s×2设备 ≈ 5,760条/天 ≈ 173K/月 ≈ 2.1M/年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irrigation_logs: id, device_id, strategy_id, trigger_type(manual/auto), operator_id, start_time, end_time, duration_sec, water_used_l (自动计算), status(running/completed/stopped)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~10条/天 灌溉执行审计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5257800"/>
            <a:ext cx="11612880" cy="1280160"/>
          </a:xfrm>
          <a:prstGeom prst="roundRect">
            <a:avLst>
              <a:gd name="adj" fmla="val 5714"/>
            </a:avLst>
          </a:prstGeom>
          <a:solidFill>
            <a:srgbClr val="111B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531266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 &amp; 事件 (自动化)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5532120"/>
            <a:ext cx="112471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irrigation_strategies: id, plot_id(FK), strategy_name, humidity_min/max, temp_min/max, irrigation_duration_max(1800s), cooldown_interval(3600s), water_flow_rate, enabled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alerts: id, device_id, alert_type, alert_level(info/warn/critical), message, resolved, resolved_at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scheduled_tasks: id, device_id, cron_expr, action, duration_sec, enabled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 — ER 关系图</a:t>
            </a:r>
            <a:endParaRPr lang="en-US" sz="2600" dirty="0"/>
          </a:p>
        </p:txBody>
      </p:sp>
      <p:pic>
        <p:nvPicPr>
          <p:cNvPr id="5" name="Image 0" descr="D:/ppt_build/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170" y="742315"/>
            <a:ext cx="11247120" cy="61156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 — 关键设计决策与优化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数据双写机制 | 索引策略 | 大表归档策略 | 灌溉水量自动计算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08910" cy="292608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双写保障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243459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8" name="Text 6"/>
          <p:cNvSpPr/>
          <p:nvPr/>
        </p:nvSpPr>
        <p:spPr>
          <a:xfrm>
            <a:off x="484632" y="1627632"/>
            <a:ext cx="2379726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每条传感器数据写入两次: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huawei-callback.js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Webhook 接收 → 首次 INSERT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mqtt-broker.js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broker.on('publish') 触发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→ 二次 INSERT (冗余)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双写保证数据不丢失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即使一个环节失败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另一个环节仍可入库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57550" y="1188720"/>
            <a:ext cx="2708910" cy="292608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4710" y="128016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索引策略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94710" y="1536192"/>
            <a:ext cx="2434590" cy="10973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12" name="Text 10"/>
          <p:cNvSpPr/>
          <p:nvPr/>
        </p:nvSpPr>
        <p:spPr>
          <a:xfrm>
            <a:off x="3422142" y="1627632"/>
            <a:ext cx="2379726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sensor_data: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KEY idx_device_time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(device_id, created_at)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覆盖查询: 指定设备+时间范围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irrigation_logs: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KEY idx_device_start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(device_id, start_time)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KEY idx_status (status)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快速查运行中的灌溉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其他表: FK 字段均建索引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主键自增 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5060" y="1188720"/>
            <a:ext cx="2708910" cy="292608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28016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自动计算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32220" y="1536192"/>
            <a:ext cx="2434590" cy="10973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6" name="Text 14"/>
          <p:cNvSpPr/>
          <p:nvPr/>
        </p:nvSpPr>
        <p:spPr>
          <a:xfrm>
            <a:off x="6359652" y="1627632"/>
            <a:ext cx="2379726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灌溉水量自动计算: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water_used_l =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duration_sec × water_flow_rate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water_flow_rate 来自策略表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(L/s 单位)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灌溉停止时 UPDATE: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end_time = NOW()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duration_sec = 差值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water_used_l = 自动计算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无需人工干预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32570" y="1188720"/>
            <a:ext cx="2708910" cy="2926080"/>
          </a:xfrm>
          <a:prstGeom prst="roundRect">
            <a:avLst>
              <a:gd name="adj" fmla="val 3376"/>
            </a:avLst>
          </a:prstGeom>
          <a:solidFill>
            <a:srgbClr val="111B33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9730" y="1280160"/>
            <a:ext cx="243459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容量规划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69730" y="1536192"/>
            <a:ext cx="2434590" cy="10973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20" name="Text 18"/>
          <p:cNvSpPr/>
          <p:nvPr/>
        </p:nvSpPr>
        <p:spPr>
          <a:xfrm>
            <a:off x="9297162" y="1627632"/>
            <a:ext cx="2379726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sensor_data 日增 ~5,760条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约 460KB/天 | 13.8MB/月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建议: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按月 RANGE 分区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6个月后归档到历史表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或使用 MySQL 表分区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PARTITION BY RANGE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(TO_DAYS(created_at))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其他表数据量小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无需特殊处理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Shape 1"/>
          <p:cNvSpPr/>
          <p:nvPr/>
        </p:nvSpPr>
        <p:spPr>
          <a:xfrm>
            <a:off x="0" y="2432304"/>
            <a:ext cx="12188952" cy="2011680"/>
          </a:xfrm>
          <a:prstGeom prst="rect">
            <a:avLst/>
          </a:prstGeom>
          <a:solidFill>
            <a:srgbClr val="111B33"/>
          </a:solidFill>
        </p:spPr>
      </p:sp>
      <p:sp>
        <p:nvSpPr>
          <p:cNvPr id="4" name="Text 2"/>
          <p:cNvSpPr/>
          <p:nvPr/>
        </p:nvSpPr>
        <p:spPr>
          <a:xfrm>
            <a:off x="640080" y="256032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三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265176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后端服务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347472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Node.js 22 + Express + Aedes MQTT Broker + 华为云 SDK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个 API 模块 | Webhook 数据接收 | 双引擎自动化 | FRP 内网穿透 | JWT 安全认证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— 技术架构总览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分层架构: 路由层 → 业务逻辑层 → 数据访问层 | 通信层: MQTT Broker + 串口网关 + FRP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760720" cy="2103120"/>
          </a:xfrm>
          <a:prstGeom prst="roundRect">
            <a:avLst>
              <a:gd name="adj" fmla="val 4348"/>
            </a:avLst>
          </a:prstGeom>
          <a:solidFill>
            <a:srgbClr val="111B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 路由层 (10 模块)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5486400" cy="10973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Text 6"/>
          <p:cNvSpPr/>
          <p:nvPr/>
        </p:nvSpPr>
        <p:spPr>
          <a:xfrm>
            <a:off x="438912" y="1536192"/>
            <a:ext cx="5431536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auth.js         JWT 签发 + 用户认证 (bcrypt 验证)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devices.js      设备 CRUD + 串口绑定 + 华为云绑定 + 灌溉启停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dashboard.js    统计数据: 在线设备数 / 今日灌溉次数 / 24h 趋势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plots.js        地块 CRUD (种植物、面积)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strategies.js   灌溉策略 CRUD (阈值、时长、冷却)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schedules.js    定时任务 CRUD (Cron 表达式)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irrigation-logs 灌溉记录分页查询 (按设备/时间/类型筛选)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alerts.js       告警列表 + 标记已处理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export.js       CSV 导出 (sensor-data / irrigation-logs)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huawei-callback Webhook 接收 (无需 JWT 认证)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111B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188720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核心服务层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444752"/>
            <a:ext cx="530352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Text 10"/>
          <p:cNvSpPr/>
          <p:nvPr/>
        </p:nvSpPr>
        <p:spPr>
          <a:xfrm>
            <a:off x="6473952" y="1536192"/>
            <a:ext cx="5248656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┌─ huawei-callback.js ─ Webhook 数据接收 → INSERT DB → MQTT 推送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huawei-iot.js ───── IAM Token → REST API 命令下发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mqtt-broker.js ──── Aedes Broker ● WebSocket :8083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alert-engine.js ─── 告警阈值检查 (30min 冷却)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strategy-engine.js ─ 自动灌溉触发 (冷却间隔检查)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serial-gateway.js ── UART 串口备用通信通道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 db.js ───────────── mysql2/promise 连接池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474720"/>
            <a:ext cx="5760720" cy="1828800"/>
          </a:xfrm>
          <a:prstGeom prst="roundRect">
            <a:avLst>
              <a:gd name="adj" fmla="val 5000"/>
            </a:avLst>
          </a:prstGeom>
          <a:solidFill>
            <a:srgbClr val="111B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56616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 &amp; 安全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822192"/>
            <a:ext cx="5486400" cy="10973"/>
          </a:xfrm>
          <a:prstGeom prst="rect">
            <a:avLst/>
          </a:prstGeom>
          <a:solidFill>
            <a:srgbClr val="FBBF24"/>
          </a:solidFill>
        </p:spPr>
      </p:sp>
      <p:sp>
        <p:nvSpPr>
          <p:cNvPr id="16" name="Text 14"/>
          <p:cNvSpPr/>
          <p:nvPr/>
        </p:nvSpPr>
        <p:spPr>
          <a:xfrm>
            <a:off x="438912" y="3913632"/>
            <a:ext cx="5431536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JWT 签发: jsonwebtoken.sign({userId}, secret, {expiresIn:'24h'})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JWT 校验: authMiddleware → jwt.verify() → req.userId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密码加密: bcrypt.hash(password, 10) → 存储哈希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路由保护: /auth 和 /huawei 无需认证，其余全部 JWT 保护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CORS: cors() 允许跨域 | morgan: HTTP 请求日志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347472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11B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566160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FRP 隧道 &amp; 通信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822192"/>
            <a:ext cx="5303520" cy="10973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20" name="Text 18"/>
          <p:cNvSpPr/>
          <p:nvPr/>
        </p:nvSpPr>
        <p:spPr>
          <a:xfrm>
            <a:off x="6473952" y="3913632"/>
            <a:ext cx="5248656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FRP 服务端: 阿里云ECS 47.96.100.108 frps 0.61.1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:9090 控制 | :8080→:3000 (前端) | :8081→:8080 (后端/Webhook)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FRP 客户端: WSL Ubuntu 24.04 frpc 0.61.1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localIP: 192.168.32.1 (Windows 宿主机)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Token: 234856153c0a9ed79352f0c9993c2d90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阿里云安全组: 已放行 7000 / 8080 / 8081 端口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— API 路由详细规格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 URL: /api/v1  |  JWT Authorization: Bearer &lt;token&gt;  |  Content-Type: application/json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274320" y="1005840"/>
          <a:ext cx="11612880" cy="5230368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4754880"/>
                <a:gridCol w="448056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认证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端点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功能说明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auth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否/是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POST /login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/me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登录返回 {token, user} | 获取当前用户信息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devices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JWT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  POST /  PUT /:id  DELETE /:id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/:id/data/latest  GET /:id/data/history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PUT /:id/serial-port  DELETE /:id/serial-port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PUT /:id/huawei-bind  DELETE /:id/huawei-bind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POST /:id/irrigate/start  POST /:id/irrigate/stop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完整 CRUD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最新数据 + 历史数据查询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串口动态绑定/解绑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华为云设备 ID 绑定/解绑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灌溉控制 (核心)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dashboard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JWT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/stats  GET /trends-24h  GET /devices-latest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仪表盘聚合查询 | ECharts 数据源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plots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JWT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  GET /:id  POST /  PUT /:id  DELETE /:id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地块 CRUD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strategies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JWT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  GET /:id  POST /  PUT /:id  DELETE /:id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灌溉策略 CRUD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irrigation-logs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JWT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 (分页 筛选)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灌溉记录审计查询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alerts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JWT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  PUT /:id/resolve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告警列表 + 标记处理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schedules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JWT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  POST /  PUT /:id  DELETE /:id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定时任务 CRUD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export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JWT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/sensor-data (CSV)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 /irrigation-logs (CSV)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数据导出 CSV 格式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huawei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无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POST /data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华为云 Webhook 回调入口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— Webhook 数据接收完整流程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/api/v1/huawei/data  |  华为云 IoTDA → FRP 穿透 → 后端 → DB + MQTT 推送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554480" cy="3840480"/>
          </a:xfrm>
          <a:prstGeom prst="roundRect">
            <a:avLst>
              <a:gd name="adj" fmla="val 5882"/>
            </a:avLst>
          </a:prstGeom>
          <a:solidFill>
            <a:srgbClr val="111B33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" y="1554480"/>
            <a:ext cx="14081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华为云推送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1280160" cy="10973"/>
          </a:xfrm>
          <a:prstGeom prst="rect">
            <a:avLst/>
          </a:prstGeom>
          <a:solidFill>
            <a:srgbClr val="38BDF8"/>
          </a:solidFill>
        </p:spPr>
      </p:sp>
      <p:sp>
        <p:nvSpPr>
          <p:cNvPr id="9" name="Text 7"/>
          <p:cNvSpPr/>
          <p:nvPr/>
        </p:nvSpPr>
        <p:spPr>
          <a:xfrm>
            <a:off x="320040" y="1965960"/>
            <a:ext cx="1371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设备属性上报后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转发规则匹配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 POST JSON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notify_data.header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body.services[]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83080" y="2560320"/>
            <a:ext cx="155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38528" y="1097280"/>
            <a:ext cx="1554480" cy="3840480"/>
          </a:xfrm>
          <a:prstGeom prst="roundRect">
            <a:avLst>
              <a:gd name="adj" fmla="val 5882"/>
            </a:avLst>
          </a:prstGeom>
          <a:solidFill>
            <a:srgbClr val="111B33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1430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1554480"/>
            <a:ext cx="14081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FRP 穿透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75688" y="1847088"/>
            <a:ext cx="1280160" cy="10973"/>
          </a:xfrm>
          <a:prstGeom prst="rect">
            <a:avLst/>
          </a:prstGeom>
          <a:solidFill>
            <a:srgbClr val="FBBF24"/>
          </a:solidFill>
        </p:spPr>
      </p:sp>
      <p:sp>
        <p:nvSpPr>
          <p:cNvPr id="15" name="Text 13"/>
          <p:cNvSpPr/>
          <p:nvPr/>
        </p:nvSpPr>
        <p:spPr>
          <a:xfrm>
            <a:off x="2029968" y="1965960"/>
            <a:ext cx="1371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47.96.100.108:8081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frps 接收 → 转发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frpc → localhost:8080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透明 TCP 代理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93008" y="2560320"/>
            <a:ext cx="155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48456" y="1097280"/>
            <a:ext cx="1554480" cy="3840480"/>
          </a:xfrm>
          <a:prstGeom prst="roundRect">
            <a:avLst>
              <a:gd name="adj" fmla="val 5882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5656" y="11430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21608" y="1554480"/>
            <a:ext cx="14081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解析识别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85616" y="1847088"/>
            <a:ext cx="1280160" cy="10973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21" name="Text 19"/>
          <p:cNvSpPr/>
          <p:nvPr/>
        </p:nvSpPr>
        <p:spPr>
          <a:xfrm>
            <a:off x="3739896" y="1965960"/>
            <a:ext cx="1371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提取 device_id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devices WHERE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huawei_device_id=?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兼容 PascalCase/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snake_case 双格式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02936" y="2560320"/>
            <a:ext cx="155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58384" y="1097280"/>
            <a:ext cx="1554480" cy="3840480"/>
          </a:xfrm>
          <a:prstGeom prst="roundRect">
            <a:avLst>
              <a:gd name="adj" fmla="val 5882"/>
            </a:avLst>
          </a:prstGeom>
          <a:solidFill>
            <a:srgbClr val="111B33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15584" y="11430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31536" y="1554480"/>
            <a:ext cx="14081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数据入库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95544" y="1847088"/>
            <a:ext cx="128016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27" name="Text 25"/>
          <p:cNvSpPr/>
          <p:nvPr/>
        </p:nvSpPr>
        <p:spPr>
          <a:xfrm>
            <a:off x="5449824" y="1965960"/>
            <a:ext cx="1371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规范化 5 项属性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INSERT sensor_data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(device_id, moisture,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temp, hum, light)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MySQL 持久化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12864" y="2560320"/>
            <a:ext cx="155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068312" y="1097280"/>
            <a:ext cx="1554480" cy="3840480"/>
          </a:xfrm>
          <a:prstGeom prst="roundRect">
            <a:avLst>
              <a:gd name="adj" fmla="val 5882"/>
            </a:avLst>
          </a:prstGeom>
          <a:solidFill>
            <a:srgbClr val="111B33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11430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41464" y="1554480"/>
            <a:ext cx="14081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状态更新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05472" y="1847088"/>
            <a:ext cx="1280160" cy="10973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33" name="Text 31"/>
          <p:cNvSpPr/>
          <p:nvPr/>
        </p:nvSpPr>
        <p:spPr>
          <a:xfrm>
            <a:off x="7159752" y="1965960"/>
            <a:ext cx="1371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UPDATE devices SET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online_status = 1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last_online_at = NOW()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设备在线标记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22792" y="2560320"/>
            <a:ext cx="155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778240" y="1097280"/>
            <a:ext cx="1554480" cy="3840480"/>
          </a:xfrm>
          <a:prstGeom prst="roundRect">
            <a:avLst>
              <a:gd name="adj" fmla="val 5882"/>
            </a:avLst>
          </a:prstGeom>
          <a:solidFill>
            <a:srgbClr val="111B33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11430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851392" y="1554480"/>
            <a:ext cx="14081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双引擎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915400" y="1847088"/>
            <a:ext cx="1280160" cy="10973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39" name="Text 37"/>
          <p:cNvSpPr/>
          <p:nvPr/>
        </p:nvSpPr>
        <p:spPr>
          <a:xfrm>
            <a:off x="8869680" y="1965960"/>
            <a:ext cx="1371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checkAlerts()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阈值对比 → 30min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冷却 → 写入 alerts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runStrategies()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湿度判断 → 冷却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检查 → 自动灌溉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332720" y="2560320"/>
            <a:ext cx="1554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488168" y="1097280"/>
            <a:ext cx="1554480" cy="3840480"/>
          </a:xfrm>
          <a:prstGeom prst="roundRect">
            <a:avLst>
              <a:gd name="adj" fmla="val 5882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45368" y="11430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561320" y="1554480"/>
            <a:ext cx="14081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MQTT 推送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625328" y="1847088"/>
            <a:ext cx="1280160" cy="10973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45" name="Text 43"/>
          <p:cNvSpPr/>
          <p:nvPr/>
        </p:nvSpPr>
        <p:spPr>
          <a:xfrm>
            <a:off x="10579608" y="1965960"/>
            <a:ext cx="137160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brokerRef.publish(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'sensor/{sn}/data',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JSON payload)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Aedes Broker</a:t>
            </a:r>
            <a:endParaRPr lang="en-US" sz="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前端 WebSocket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5120640"/>
            <a:ext cx="11612880" cy="1554480"/>
          </a:xfrm>
          <a:prstGeom prst="roundRect">
            <a:avLst>
              <a:gd name="adj" fmla="val 4706"/>
            </a:avLst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166360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属性兼容逻辑  huawei-callback.js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5413248"/>
            <a:ext cx="1124712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同时支持华为云标准通知格式 和 自定义 topic 简化格式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(body.notify_data) {                              // 标准格式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huaweiDeviceId = body.notify_data.header.device_id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 (const svc of body.notify_data.body.services) Object.assign(properties, svc.properties || svc)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                                              // 简化格式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huaweiDeviceId = body.device_id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properties = body.data || body.properties || body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规范化属性名 (兼容 PascalCase / camelCase / snake_case)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payload.soil_moisture = properties.soil_moisture ?? properties.SoilMoisture ?? properties.soil_moisture_val ?? null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D8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payload.air_temp      = properties.air_temperature ?? properties.Temperature ?? properties.air_temp ?? null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— 命令下发 (3 级优先级)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华为云 REST API (主力) → UART 串口 (备用) → 内部 MQTT (兜底)  |  服务端 setTimeout 自动停止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577840" cy="5669280"/>
          </a:xfrm>
          <a:prstGeom prst="roundRect">
            <a:avLst>
              <a:gd name="adj" fmla="val 1639"/>
            </a:avLst>
          </a:prstGeom>
          <a:solidFill>
            <a:srgbClr val="111B33"/>
          </a:solidFill>
          <a:ln w="381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优先级 1: 华为云 REST API 命令下发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530352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8" name="Text 6"/>
          <p:cNvSpPr/>
          <p:nvPr/>
        </p:nvSpPr>
        <p:spPr>
          <a:xfrm>
            <a:off x="438912" y="1508760"/>
            <a:ext cx="5248656" cy="4937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流程: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IAM 用户 x1ng / 2222987z → POST iam.cn-north-4.../v3/auth/tokens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获取 X-Subject-Token (缓存 20 分钟，过期自动刷新)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POST https://723391561e.st1.iotda-app.cn-north-4.myhuaweicloud.com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/v5/iot/bd52d1199df7453a8eb21012858ae358/devices/{huaweiDeviceId}/commands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 Body: {"name":"StartIrrigation","service_id":"SmartAgriculture",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"paras":{"duration_sec":30,"_cmd":"StartIrrigation"}}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 板子 oc_mqtt 接收 MQTT 消息 → msg_rcv_callback()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→ deal_cmd_msg() 解析 JSON → strcmp("StartIrrigation")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→ StartIrrigation(duration) → Relay_On() + osTimerStart(1000ms)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 每秒 IrrigationTimerCallback: g_irrigation_remaining--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归零 → Relay_Off() → osTimerStop()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7. INSERT irrigation_logs (status=running → completed)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8. huawei-iot.js sendCommand() 返回 true → cmdSent = true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技术要点: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paras._cmd 兜底: REST API 的 name 字段不映射到 MQTT 的 command_name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板子从 paras._cmd 取命令名，保证兼容性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POST 响应 200+ → resolve(true); 404/403 → resolve(false) → 触发下级回退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服务端 setTimeout(duration*1000) → 自动调 StopIrrigation，防止前端关闭后水泵不关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5760720" cy="5669280"/>
          </a:xfrm>
          <a:prstGeom prst="roundRect">
            <a:avLst>
              <a:gd name="adj" fmla="val 1613"/>
            </a:avLst>
          </a:prstGeom>
          <a:solidFill>
            <a:srgbClr val="111B33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05156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优先级 2: UART 串口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389888"/>
            <a:ext cx="5486400" cy="10973"/>
          </a:xfrm>
          <a:prstGeom prst="rect">
            <a:avLst/>
          </a:prstGeom>
          <a:solidFill>
            <a:srgbClr val="FBBF24"/>
          </a:solidFill>
        </p:spPr>
      </p:sp>
      <p:sp>
        <p:nvSpPr>
          <p:cNvPr id="12" name="Text 10"/>
          <p:cNvSpPr/>
          <p:nvPr/>
        </p:nvSpPr>
        <p:spPr>
          <a:xfrm>
            <a:off x="6382512" y="1508760"/>
            <a:ext cx="5431536" cy="4937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触发条件: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connection_type === 'uart' &amp;&amp; com_port 不为空 &amp;&amp; REST API 失败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流程: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serialManager.sendCommand(com_port, 'pump_on', duration)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SerialPort.write(JSON.stringify({action:"pump_on",duration_sec:N}))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板子串口中断接收 → 解析 → 执行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优先级 3: 内部 MQTT (兜底)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仅当前两级都不可用时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brokerRef.publish({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topic: 'cmd/' + device_sn + '/pump',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payload: { action: 'pump_off' }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仅当设备监听本地 MQTT 时有效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自动停止 (服务端兜底):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setTimeout(async () =&gt; {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1. 检查 irrigation_logs 状态是否为 running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2. 下发停止指令 (优先 REST API，fallback UART/MQTT)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3. UPDATE irrigation_logs SET status='completed', duration_sec=...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}, duration_sec * 1000)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即使前端关闭、网络断开，水泵一定会在指定时长后停止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— 双引擎自动化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alert-engine.js 告警检查 + strategy-engine.js 自动灌溉触发  |  每次 Webhook 数据到达时自动执行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760720" cy="5486400"/>
          </a:xfrm>
          <a:prstGeom prst="roundRect">
            <a:avLst>
              <a:gd name="adj" fmla="val 1667"/>
            </a:avLst>
          </a:prstGeom>
          <a:solidFill>
            <a:srgbClr val="111B33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alert-engine.js — 告警引擎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5486400" cy="10973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8" name="Text 6"/>
          <p:cNvSpPr/>
          <p:nvPr/>
        </p:nvSpPr>
        <p:spPr>
          <a:xfrm>
            <a:off x="438912" y="1536192"/>
            <a:ext cx="5431536" cy="4937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checkAlerts(deviceId, plotId, deviceSn, properties):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1. 查询设备关联地块的灌溉策略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SELECT * FROM irrigation_strategies WHERE plot_id=? AND enabled=1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默认阈值: humidity 20-80%, temp 0-50°C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2. 逐项比对传感器数据与阈值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soil_moisture &lt; humidity_min  → "土壤湿度过低"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soil_moisture &gt; humidity_max  → "土壤湿度过高"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air_temp &gt; temp_max           → "温度过高"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air_temp &lt; temp_min           → "温度过低"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3. 冷却机制 (防止重复告警)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SELECT COUNT(*) FROM alerts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WHERE device_id=? AND alert_type=?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AND created_at &gt; NOW() - INTERVAL 30 MINUTE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存在 → 跳过 (30分钟内已告警)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 4. 写入告警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INSERT INTO alerts (device_id, alert_type, alert_level, message)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alert_level: humidity超出=critical | temp超出=warn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5577840" cy="5486400"/>
          </a:xfrm>
          <a:prstGeom prst="roundRect">
            <a:avLst>
              <a:gd name="adj" fmla="val 1667"/>
            </a:avLst>
          </a:prstGeom>
          <a:solidFill>
            <a:srgbClr val="111B3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188720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strategy-engine.js — 自动灌溉策略引擎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444752"/>
            <a:ext cx="530352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Text 10"/>
          <p:cNvSpPr/>
          <p:nvPr/>
        </p:nvSpPr>
        <p:spPr>
          <a:xfrm>
            <a:off x="6473952" y="1536192"/>
            <a:ext cx="5248656" cy="4937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runStrategies(deviceId, plotId, deviceSn, payload):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1. 查询地块所有已启用策略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SELECT * FROM irrigation_strategies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WHERE plot_id=? AND enabled=1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2. 逐策略检查触发条件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humidity_min &lt;= soil_moisture &lt;= humidity_max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(湿度在阈值范围内，需要灌溉)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3. 冲突检查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SELECT * FROM irrigation_logs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WHERE device_id=? AND strategy_id=?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AND status='running'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有 → 跳过 (同一策略已有运行中的灌溉)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4. 冷却检查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SELECT * FROM irrigation_logs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WHERE device_id=? AND strategy_id=?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AND start_time &gt; NOW() - INTERVAL cooldown_interval SECOND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有 → 跳过 (冷却时间未到)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5. 触发自动灌溉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INSERT INTO irrigation_logs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(device_id, strategy_id, trigger_type='auto', status='running')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INSERT INTO alerts (自动灌溉通知)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broker.emit('autoIrrigate', { deviceSn, durationSec })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→ serialManager.sendCommand() 串口下发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 6. 返回匹配的策略列表 (可能多个)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Shape 1"/>
          <p:cNvSpPr/>
          <p:nvPr/>
        </p:nvSpPr>
        <p:spPr>
          <a:xfrm>
            <a:off x="0" y="2432304"/>
            <a:ext cx="12188952" cy="2011680"/>
          </a:xfrm>
          <a:prstGeom prst="rect">
            <a:avLst/>
          </a:prstGeom>
          <a:solidFill>
            <a:srgbClr val="111B33"/>
          </a:solidFill>
        </p:spPr>
      </p:sp>
      <p:sp>
        <p:nvSpPr>
          <p:cNvPr id="4" name="Text 2"/>
          <p:cNvSpPr/>
          <p:nvPr/>
        </p:nvSpPr>
        <p:spPr>
          <a:xfrm>
            <a:off x="640080" y="256032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四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45920" y="265176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嵌入式开发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347472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BearPi-HM Nano (Hi3861 RISC-V) + Huawei LiteOS + E53_IA1 传感器扩展板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GN + Ninja 构建系统 | Flash 直写配置存储 | 3 线程 + 消息队列架构 | 华为云 oc_mqtt v5 SDK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嵌入式 — 硬件平台 &amp; 传感器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BearPi-HM Nano 开发板 ×2  |  Huawei LiteOS RTOS  |  E53_IA1 多传感器扩展板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274320" y="1005840"/>
          <a:ext cx="11612880" cy="50292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685800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组件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型号/规格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详细说明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主控芯片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Hi3861V100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RISC-V 32-bit, 160MHz, 352KB SRAM, 2MB SPI Flash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操作系统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Huawei LiteOS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RTOS 实时内核，支持多任务调度、消息队列、定时器、信号量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WiFi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2.4GHz IEEE 802.11b/g/n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仅支持 2.4GHz (Hi3861 不支持 5GHz)，WPA2 加密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温湿度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SHT30 (I2C)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GPIO_0=SDA, GPIO_1=SCL | 精度 ±0.3°C / ±2%RH | 0-100%RH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光照强度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BH1750 (I2C)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同 I2C 总线 | 量程 1-65535 lux | 数字输出无需校准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土壤湿度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外接 ADC (Ch2)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模拟量采集 → 百分比转换 | 干:0% 湿:100%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继电器/水泵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GPIO_8 (高电平=ON)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E53_IA1 板载继电器 | 控制 220V 水泵启停 | RELAY_ACTIVE_LOW=0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状态 LED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GPIO_14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板载蓝色 LED，用于状态指示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调试串口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CH340 USB-UART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115200 baud, 8N1 | 日志输出 + HiBurn 烧录 | Windows COM3/4/6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嵌入式 — 固件架构 (3 线程 + 消息队列)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SmartAgEntry() 入口 → 3 个 osThreadNew + 1 个 osMessageQueue  |  16 槽位消息队列解耦采集与上报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5303520"/>
          </a:xfrm>
          <a:prstGeom prst="roundRect">
            <a:avLst>
              <a:gd name="adj" fmla="val 3333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task_main_entry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主任务 | prio=26 | 10KB栈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517904"/>
            <a:ext cx="2377440" cy="10973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9" name="Text 7"/>
          <p:cNvSpPr/>
          <p:nvPr/>
        </p:nvSpPr>
        <p:spPr>
          <a:xfrm>
            <a:off x="411480" y="1645920"/>
            <a:ext cx="246888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WifiConnect(ssid, pwd)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扫描 2.4GHz AP → 连接 DHCP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dtls_al_init() 安全传输层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mqtt_al_init()  MQTT 抽象层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oc_mqtt_init()  华为云 SDK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queue_create("queue_rcvmsg", 16)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创建消息队列 (16 槽位)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 oc_mqtt_profile_connect()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设备密码认证 → 华为云 IoTDA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device_id + device_passwd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server 117.78.5.125:1883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注册 msg_rcv_callback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 while(1): queue_pop(INFINITE)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├ en_msg_report → deal_report_msg()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│   oc_mqtt_profile_propertyreport()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│   5 属性上报 (QoS 1)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└ en_msg_cmd → deal_cmd_msg()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StartIrrigation / StopIrrigation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SetConfig (云端配网)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5303520"/>
          </a:xfrm>
          <a:prstGeom prst="roundRect">
            <a:avLst>
              <a:gd name="adj" fmla="val 3333"/>
            </a:avLst>
          </a:prstGeom>
          <a:solidFill>
            <a:srgbClr val="111B33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51560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task_sensor_entry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316736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传感器 | prio=24 | 4KB栈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29000" y="1517904"/>
            <a:ext cx="237744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4" name="Text 12"/>
          <p:cNvSpPr/>
          <p:nvPr/>
        </p:nvSpPr>
        <p:spPr>
          <a:xfrm>
            <a:off x="3383280" y="1645920"/>
            <a:ext cx="246888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E53_IA1_Init()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I2C 初始化 (GPIO_0, GPIO_1)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BH1750 + SHT30 初始化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SoilMoisture_Init()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ADC Ch2 初始化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while(1):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E53_IA1_Read_Data(&amp;data)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→ Temperature (float °C)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→ Humidity (float %)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→ Lux (float)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SoilMoisture_Read()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→ soil (float %)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组装 report_t 结构体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queue_push(app_msg, 5s超时)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队列满 → free(app_msg) 丢弃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sleep(SENSOR_INTERVAL_SEC)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(30 秒周期)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743200" cy="5303520"/>
          </a:xfrm>
          <a:prstGeom prst="roundRect">
            <a:avLst>
              <a:gd name="adj" fmla="val 3333"/>
            </a:avLst>
          </a:prstGeom>
          <a:solidFill>
            <a:srgbClr val="111B33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51560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task_config_entry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316736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配网 | prio=28 | 4KB栈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0800" y="1517904"/>
            <a:ext cx="2377440" cy="10973"/>
          </a:xfrm>
          <a:prstGeom prst="rect">
            <a:avLst/>
          </a:prstGeom>
          <a:solidFill>
            <a:srgbClr val="FBBF24"/>
          </a:solidFill>
        </p:spPr>
      </p:sp>
      <p:sp>
        <p:nvSpPr>
          <p:cNvPr id="19" name="Text 17"/>
          <p:cNvSpPr/>
          <p:nvPr/>
        </p:nvSpPr>
        <p:spPr>
          <a:xfrm>
            <a:off x="6355080" y="1645920"/>
            <a:ext cx="246888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仅当 Flash 无有效配置时启动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打印提示信息后退出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不占用长期资源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配网方式: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SetConfig 华为云命令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params: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wifi_ssid   WiFi 名称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wifi_pwd    WiFi 密码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cloud_id    设备 ID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cloud_pwd   设备密钥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Config_Save() 写入 Flash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提示重启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重启后加载新配置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189720" y="1005840"/>
            <a:ext cx="2743200" cy="5303520"/>
          </a:xfrm>
          <a:prstGeom prst="roundRect">
            <a:avLst>
              <a:gd name="adj" fmla="val 3333"/>
            </a:avLst>
          </a:prstGeom>
          <a:solidFill>
            <a:srgbClr val="111B33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1051560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消息队列 &amp; 数据流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81160" y="1316736"/>
            <a:ext cx="25603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 | osMessageQueue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372600" y="1517904"/>
            <a:ext cx="2377440" cy="10973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24" name="Text 22"/>
          <p:cNvSpPr/>
          <p:nvPr/>
        </p:nvSpPr>
        <p:spPr>
          <a:xfrm>
            <a:off x="9326880" y="1645920"/>
            <a:ext cx="246888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app_msg_t 结构: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msg_type: enum {cmd, report}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union { cmd_t, report_t }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cmd_t: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request_id → 命令响应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payload → JSON 字符串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report_t: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temp(int) hum(int)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lum(int) soil(float)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motor_status(int)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数据流: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task_sensor → queue_push(x16)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task_main → queue_pop(∞)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deal_report_msg()</a:t>
            </a:r>
            <a:endParaRPr lang="en-US" sz="7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oc_mqtt publish QoS1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017520" y="3200400"/>
            <a:ext cx="228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89320" y="3200400"/>
            <a:ext cx="228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3200400"/>
            <a:ext cx="228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6446520"/>
            <a:ext cx="11612880" cy="292608"/>
          </a:xfrm>
          <a:prstGeom prst="rect">
            <a:avLst/>
          </a:prstGeom>
          <a:solidFill>
            <a:srgbClr val="111B33"/>
          </a:solidFill>
        </p:spPr>
      </p:sp>
      <p:sp>
        <p:nvSpPr>
          <p:cNvPr id="29" name="Text 27"/>
          <p:cNvSpPr/>
          <p:nvPr/>
        </p:nvSpPr>
        <p:spPr>
          <a:xfrm>
            <a:off x="457200" y="6473952"/>
            <a:ext cx="112471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属性上报: Temperature(int) Humidity(int) Luminance(int) SoilMoisture(float) MotorStatus(string ON/OFF)  |  主题: $oc/devices/{id}/sys/properties/report  |  QoS 1 |  HMAC-SHA256 认证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嵌入式 — Flash 配置存储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USER_RESERVE 分区 4KB @ 0x1F0000  |  结构化存储 + Magic 校验  |  云端 SetConfig 命令远程配网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760720" cy="2286000"/>
          </a:xfrm>
          <a:prstGeom prst="roundRect">
            <a:avLst>
              <a:gd name="adj" fmla="val 4000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Hi3861 Flash 布局 (2MB)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5486400" cy="10973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Shape 6"/>
          <p:cNvSpPr/>
          <p:nvPr/>
        </p:nvSpPr>
        <p:spPr>
          <a:xfrm>
            <a:off x="457200" y="1508760"/>
            <a:ext cx="5394960" cy="320040"/>
          </a:xfrm>
          <a:prstGeom prst="roundRect">
            <a:avLst>
              <a:gd name="adj" fmla="val 14286"/>
            </a:avLst>
          </a:prstGeom>
          <a:solidFill>
            <a:srgbClr val="0F1A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Boot Loader    0x000000 - ~32KB    系统引导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5394960" cy="320040"/>
          </a:xfrm>
          <a:prstGeom prst="roundRect">
            <a:avLst>
              <a:gd name="adj" fmla="val 14286"/>
            </a:avLst>
          </a:prstGeom>
          <a:solidFill>
            <a:srgbClr val="0F1A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92808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NV (系统参数)    0x008000 - ~128KB    Hi3861 系统 NV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394960" cy="320040"/>
          </a:xfrm>
          <a:prstGeom prst="roundRect">
            <a:avLst>
              <a:gd name="adj" fmla="val 14286"/>
            </a:avLst>
          </a:prstGeom>
          <a:solidFill>
            <a:srgbClr val="0F1A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76856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 (固件)    0x028000 - ~1.5MB    应用程序代码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5394960" cy="320040"/>
          </a:xfrm>
          <a:prstGeom prst="roundRect">
            <a:avLst>
              <a:gd name="adj" fmla="val 14286"/>
            </a:avLst>
          </a:prstGeom>
          <a:solidFill>
            <a:srgbClr val="1A1A0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60904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USER_RESERVE    0x1F0000 - 4KB    用户配置存储 ★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1A1A0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143000"/>
            <a:ext cx="5394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flash_config_t (372 bytes)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389888"/>
            <a:ext cx="5394960" cy="10973"/>
          </a:xfrm>
          <a:prstGeom prst="rect">
            <a:avLst/>
          </a:prstGeom>
          <a:solidFill>
            <a:srgbClr val="FBBF24"/>
          </a:solidFill>
        </p:spPr>
      </p:sp>
      <p:sp>
        <p:nvSpPr>
          <p:cNvPr id="19" name="Text 17"/>
          <p:cNvSpPr/>
          <p:nvPr/>
        </p:nvSpPr>
        <p:spPr>
          <a:xfrm>
            <a:off x="6400800" y="1508760"/>
            <a:ext cx="53949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unsigned int magic;        // 0x53414743 ("SAGC")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unsigned int version;      // 1 (版本兼容)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device_config_t cfg;       // 实际配置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flash_config_t;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wifi_ssid[32];        // WiFi 名称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wifi_pwd[32];         // WiFi 密码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cloud_id[64];         // 华为云设备 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cloud_pwd[48];        // 华为云设备密钥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cloud_server[32];     // MQTT 服务器地址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cloud_port[8];        // MQTT 端口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device_config_t;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11612880" cy="2926080"/>
          </a:xfrm>
          <a:prstGeom prst="roundRect">
            <a:avLst>
              <a:gd name="adj" fmla="val 3125"/>
            </a:avLst>
          </a:prstGeom>
          <a:solidFill>
            <a:srgbClr val="111B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0332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Flash 读写操作 &amp; 云端配网流程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1124712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Config_Load():                                                          Config_Save():</a:t>
            </a:r>
            <a:endParaRPr lang="en-US" sz="8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hi_flash_init() → hi_flash_read(0x1F0000, 372B) → hi_flash_deinit()     hi_flash_init() → hi_flash_erase(0x1F0000, 4096B) → hi_flash_write(0x1F0000, 372B) → hi_flash_deinit()</a:t>
            </a:r>
            <a:endParaRPr lang="en-US" sz="8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if (magic != "SAGC") return -1 (无效)                                   → 擦除 4KB sector → 写入 372B → printf("saved to flash OK") → 提示重启</a:t>
            </a:r>
            <a:endParaRPr lang="en-US" sz="8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memcpy(&amp;g_device_config, &amp;fc.cfg, sizeof(device_config_t))              → 512B → 4KB 对齐 (sector 最小擦除单位)</a:t>
            </a:r>
            <a:endParaRPr lang="en-US" sz="8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printf("loaded from flash") → return 0                               Config_ApplyDefaults():</a:t>
            </a:r>
            <a:endParaRPr lang="en-US" sz="8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                                                      Flash 无有效配置时，从 config.h 硬编码默认值填充 g_device_config</a:t>
            </a:r>
            <a:endParaRPr lang="en-US" sz="800" dirty="0"/>
          </a:p>
          <a:p>
            <a:pPr marL="0" indent="0">
              <a:spcAft>
                <a:spcPts val="500"/>
              </a:spcAft>
              <a:buNone/>
            </a:pPr>
            <a:endParaRPr lang="en-US" sz="8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SetConfig 云端配网流程:</a:t>
            </a:r>
            <a:endParaRPr lang="en-US" sz="8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前端/后端 → 华为云 REST API → 板子 deal_cmd_msg() → 解析 JSON paras {wifi_ssid, wifi_pwd, cloud_id, cloud_pwd}</a:t>
            </a:r>
            <a:endParaRPr lang="en-US" sz="8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→ strncpy 到 device_config_t → Config_Save() → hi_flash_write → "saved to flash OK" → 用户手动重启 → 新配置生效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嵌入式 — SDK 构建系统 &amp; 烧录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GN + Ninja | riscv32-unknown-elf-gcc 7.3.0 | python3 build.py | HiBurn GUI 烧录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760720" cy="3200400"/>
          </a:xfrm>
          <a:prstGeom prst="roundRect">
            <a:avLst>
              <a:gd name="adj" fmla="val 2857"/>
            </a:avLst>
          </a:prstGeom>
          <a:solidFill>
            <a:srgbClr val="111B33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SDK &amp; 构建系统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5486400" cy="10973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Text 6"/>
          <p:cNvSpPr/>
          <p:nvPr/>
        </p:nvSpPr>
        <p:spPr>
          <a:xfrm>
            <a:off x="438912" y="1536192"/>
            <a:ext cx="5431536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SDK 路径:     D:\bearpi-hm_nano (Windows)  →   WSL 路径: /mnt/d/bearpi-hm_nano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构建系统:     GN (Generate Ninja) + Ninja (快速增量编译)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编译器:       riscv32-unknown-elf-gcc 7.3.0 (RISC-V 交叉编译)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产品配置:     build/lite/product/BearPi-HM_Nano.json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→ board: hi3861v100, kernel: liteos_riscv, compiler: gcc_riscv32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构建命令:     cd /mnt/d/bearpi-hm_nano &amp;&amp; python3 build.py BearPi-HM_Nano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→ 调用 vendor/hisi/hi3861/hi3861/SConstruct → SCons → GN → Ninja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华为云 SDK:   third_party/iot_link/oc_mqtt/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├ oc_mqtt_al/           MQTT 抽象层 (连接/发布/订阅)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├ oc_mqtt_profile_v5/   华为云属性模型 v5 (属性上报/命令接收)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└ paho_mqtt/            底层 MQTT 协议栈 (Eclipse Paho)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固件源码:     applications/BearPi/BearPi-HM_Nano/sample/smart_ag_cloud/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├ smart_ag_main.c       主逻辑 (3 线程 + 消息队列)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├ src/E53_IA1.c         传感器驱动 (I2C/ADC)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├ src/wifi_connect.c     WiFi 连接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├ src/config_store.c     Flash 配置存储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└ include/config.h      硬编码默认配置 (WiFi/华为云/GPIO)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5577840" cy="3200400"/>
          </a:xfrm>
          <a:prstGeom prst="roundRect">
            <a:avLst>
              <a:gd name="adj" fmla="val 2857"/>
            </a:avLst>
          </a:prstGeom>
          <a:solidFill>
            <a:srgbClr val="111B3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188720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编译产物 &amp; 烧录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444752"/>
            <a:ext cx="5303520" cy="10973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2" name="Text 10"/>
          <p:cNvSpPr/>
          <p:nvPr/>
        </p:nvSpPr>
        <p:spPr>
          <a:xfrm>
            <a:off x="6473952" y="1536192"/>
            <a:ext cx="5248656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out/BearPi-HM_Nano/ 产物: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Hi3861_wifiiot_app_burn.bin       烧录用镜像 (~821KB)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包含: Boot + NV + App → 完整 Flash 镜像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Hi3861_wifiiot_app_ota.bin        OTA 升级包 (~490KB 压缩)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Hi3861_wifiiot_app_allinone.bin   全量镜像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Hi3861_wifiiot_app_ota.bin        OTA 压缩升级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当前固件版本: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smart-001 (设备1):  DEVICEID=..._smart-001   SECRET=7c7d8a9230...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DEVICEPWD 与华为云注册的一致 → MQTT 密码认证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smart-002 (设备2):  DEVICEID=..._smart-002   SECRET=smartagro2024smart002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SERVICE_ID="SetConfig" (与产品模型匹配)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烧录工具:  HiBurn (Windows GUI)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连接: USB Type-C → CH340 虚拟串口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设置: COM 端口 + 921600 baud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文件: 选择 Hi3861_wifiiot_app_burn.bin (或 allinone.bin)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操作: 勾选 Auto burn → Connect → 按板子 RESET → 等待 "Execution Successful"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Build 产物: ~821KB | 编译时间: ~30-60s (增量) / ~3min (全量)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572000"/>
            <a:ext cx="11612880" cy="2103120"/>
          </a:xfrm>
          <a:prstGeom prst="roundRect">
            <a:avLst>
              <a:gd name="adj" fmla="val 4348"/>
            </a:avLst>
          </a:prstGeom>
          <a:solidFill>
            <a:srgbClr val="111B33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61772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双设备固件配置速查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919472"/>
            <a:ext cx="1124712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              smart-001 (设备 1)                              smart-002 (设备 2)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数据库 ID                         22 (BPN-20240001)                                28 (BPN-20240002)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华为云 DeviceID                   6a16b4f97f2e6c302f74fe36_smart-001               6a16b4f97f2e6c302f74fe36_smart-002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华为云 Secret                     7c7d8a9230ced39f61800a93bb81f89e                 smartagro2024smart002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SERVICE_ID                        SetConfig                                        SetConfig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WiFi                               iqoo11 / 123456789                               iqoo11 / 123456789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MQTT Server                       117.78.5.125:1883                                 117.78.5.125:1883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固件文件                           smart001_fix.bin                                 smart002_fixed.bin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串口                               COM3                                             COM4/6 (USB 重连变更)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编译 (切换设备)                    config.h DEVICEID=...smart-001 后编译              config.h DEVICEID=...smart-002 后编译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嵌入式 — 关键 Bug 修复 (10 项)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从硬件驱动 → 通信协议 → 数据格式 → 云平台对接，全链路排查与修复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274320" y="1005840"/>
          <a:ext cx="11612880" cy="5230368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4114800"/>
                <a:gridCol w="475488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现象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根因分析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1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修复方案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串口无输出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APP_FEATURE_INIT 阶段 printf 导致 HardFault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删除 init 阶段所有 printf，延后到任务中输出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电机上电误转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RELAY_ACTIVE_LOW 宏设为 1 (低电平有效)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改为 0 (高电平有效)，与硬件实测一致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GPIO 初始化冲突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E53_IA1_IO_Init 覆盖 GPIO_8 (继电器)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Relay_Init() 自包含，解除与传感器初始化耦合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数据入库全 null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Webhook 解析仅匹配 snake_case 属性名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兼容 PascalCase: SoilMoisture / soil_moisture 双匹配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5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转发规则不触发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华为云控制台选「设备消息」而非「设备属性」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改为 device.property → report → HTTP Webhook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WiFi 连不上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Hi3861 仅支持 2.4GHz, 路由器为 5GHz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更换 2.4GHz 热点 (iqoo11)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7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串口配网崩溃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getchar() 在 Hi3861 上不可用, 阻塞整个线程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改为云端 SetConfig 命令配网，串口仅输出调试日志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8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Flash 写入崩溃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命令处理线程中调用文件系统 API 导致异常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改用 hi_flash_write() 直写，绕过文件系统层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9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strcmp(NULL) 崩溃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cJSON_GetStringValue 对不存在的字段返回 NULL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所有 cJSON 取值前加 NULL guard; _cmd 字段兜底命令名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REST API 401/403/404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Endpoint 用了基础版 + IAM 用户缺 IoTDA 权限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改用 iotda-app endpoint + 授予 IoTDA FullAccess 策略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Text 1"/>
          <p:cNvSpPr/>
          <p:nvPr/>
        </p:nvSpPr>
        <p:spPr>
          <a:xfrm>
            <a:off x="640080" y="228600"/>
            <a:ext cx="10881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项目亮点总结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804672"/>
          </a:xfrm>
          <a:prstGeom prst="roundRect">
            <a:avLst>
              <a:gd name="adj" fmla="val 9091"/>
            </a:avLst>
          </a:prstGeom>
          <a:solidFill>
            <a:srgbClr val="111B33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926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端到端全链路闭环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板子采集 → MQTT → 华为云 IoTDA → Webhook → FRP 穿透 → 后端入库 → MQTT/WS → 前端实时展示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30 秒采集周期 | QoS 1 可靠传输 | 毫秒级前端刷新 | 双设备并发运行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856232"/>
            <a:ext cx="11612880" cy="804672"/>
          </a:xfrm>
          <a:prstGeom prst="roundRect">
            <a:avLst>
              <a:gd name="adj" fmla="val 9091"/>
            </a:avLst>
          </a:prstGeom>
          <a:solidFill>
            <a:srgbClr val="111B33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11096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双引擎智能决策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30552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alert-engine: 阈值告警 + 30min 冷却防重复 | strategy-engine: 自动灌溉 + cooldown 间隔检查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湿度/温度多维度判断 | 冲突检测 (同一策略不重复触发) | 自动生成告警记录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798064"/>
            <a:ext cx="11612880" cy="804672"/>
          </a:xfrm>
          <a:prstGeom prst="roundRect">
            <a:avLst>
              <a:gd name="adj" fmla="val 9091"/>
            </a:avLst>
          </a:prstGeom>
          <a:solidFill>
            <a:srgbClr val="111B33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5292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级命令下发 + 兜底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072384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华为云 REST API (主力) → IAM Token 认证 → 板子 MQTT 接收 → 继电器动作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UART 串口 (备用) → SerialPort.write() | 内部 MQTT (兜底) → cmd/{sn}/pump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服务端 setTimeout 自动停止 → 即使前端关闭也不会漏水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739896"/>
            <a:ext cx="11612880" cy="804672"/>
          </a:xfrm>
          <a:prstGeom prst="roundRect">
            <a:avLst>
              <a:gd name="adj" fmla="val 9091"/>
            </a:avLst>
          </a:prstGeom>
          <a:solidFill>
            <a:srgbClr val="111B33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794760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Flash 配置存储 + 云端配网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014216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USER_RESERVE 4KB 分区 | magic+version 校验 | hi_flash_write 直写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SetConfig 命令 → 4 参数配网 → 保存 Flash → 重启生效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彻底摆脱串口，实现零接触远程部署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4681728"/>
            <a:ext cx="11612880" cy="804672"/>
          </a:xfrm>
          <a:prstGeom prst="roundRect">
            <a:avLst>
              <a:gd name="adj" fmla="val 9091"/>
            </a:avLst>
          </a:prstGeom>
          <a:solidFill>
            <a:srgbClr val="111B33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736592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FRP 内网穿透方案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956048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阿里云 ECS frps ↔ WSL Ubuntu frpc ↔ 本地 Windows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无需公网 IP | 无需 VPN | 华为云 Webhook 通过外网直连本地环境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安全组放行 3 端口 | Token 认证 | 透明 TCP 转发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5623560"/>
            <a:ext cx="11612880" cy="804672"/>
          </a:xfrm>
          <a:prstGeom prst="roundRect">
            <a:avLst>
              <a:gd name="adj" fmla="val 9091"/>
            </a:avLst>
          </a:prstGeom>
          <a:solidFill>
            <a:srgbClr val="111B33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5678424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全栈技术覆盖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589788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嵌入式 C (LiteOS RTOS + 华为云 SDK) | 后端 Node.js (Express + Aedes) | 前端 Vue 3 (Vite + Pinia)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MySQL 8.0 (8 表 InnoDB) | JWT 安全认证 | Element Plus 企业级 UI | ECharts 可视化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4" name="Shape 2"/>
          <p:cNvSpPr/>
          <p:nvPr/>
        </p:nvSpPr>
        <p:spPr>
          <a:xfrm>
            <a:off x="3200400" y="1645920"/>
            <a:ext cx="5788152" cy="3291840"/>
          </a:xfrm>
          <a:prstGeom prst="roundRect">
            <a:avLst>
              <a:gd name="adj" fmla="val 5556"/>
            </a:avLst>
          </a:prstGeom>
          <a:solidFill>
            <a:srgbClr val="111B33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3931920"/>
            <a:ext cx="2679192" cy="10973"/>
          </a:xfrm>
          <a:prstGeom prst="rect">
            <a:avLst/>
          </a:prstGeom>
          <a:solidFill>
            <a:srgbClr val="22D3EE"/>
          </a:solidFill>
        </p:spPr>
      </p:sp>
      <p:sp>
        <p:nvSpPr>
          <p:cNvPr id="8" name="Text 6"/>
          <p:cNvSpPr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智慧农业灌溉系统  |  Smart Agriculture Irrigation System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毕业设计答辩  |  2026 年 6 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24370</Words>
  <Application>WPS 演示</Application>
  <PresentationFormat>On-screen Show (16:9)</PresentationFormat>
  <Paragraphs>1223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payphone</cp:lastModifiedBy>
  <cp:revision>2</cp:revision>
  <dcterms:created xsi:type="dcterms:W3CDTF">2026-06-01T07:48:00Z</dcterms:created>
  <dcterms:modified xsi:type="dcterms:W3CDTF">2026-06-01T07:49:59Z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DC9E1C2712BB4508ABFE865287D0E1EB_12</vt:lpwstr>
  </property>
  <property fmtid="{D5CDD505-2E9C-101B-9397-08002B2CF9AE}" pid="3" name="KSOProductBuildVer">
    <vt:lpwstr>2052-12.1.0.26375</vt:lpwstr>
  </property>
</Properties>
</file>